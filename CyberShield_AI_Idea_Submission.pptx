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600" b="1">
                <a:solidFill>
                  <a:srgbClr val="06B6D4"/>
                </a:solidFill>
              </a:defRPr>
            </a:pPr>
            <a:r>
              <a:t>CyberShield AI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800">
                <a:solidFill>
                  <a:srgbClr val="1E293B"/>
                </a:solidFill>
              </a:defRPr>
            </a:pPr>
            <a:r>
              <a:t>AI-Powered Behavioral Anomaly Detection for Cybersecurity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Live Deployed App: https://cybershield-ai-1-5gyk.onrender.com/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Problem Statement ID — </a:t>
            </a:r>
            <a:endParaRPr lang="en-US" dirty="0"/>
          </a:p>
          <a:p>
            <a:pPr>
              <a:defRPr sz="1400">
                <a:solidFill>
                  <a:srgbClr val="06B6D4"/>
                </a:solidFill>
                <a:latin typeface="Calibri"/>
              </a:defRPr>
            </a:pPr>
            <a:r>
              <a:t>Honeywell-2026-Q4</a:t>
            </a:r>
          </a:p>
          <a:p>
            <a:pPr>
              <a:defRPr sz="10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Problem Statement Title — </a:t>
            </a:r>
          </a:p>
          <a:p>
            <a:pPr>
              <a:defRPr sz="1400">
                <a:solidFill>
                  <a:srgbClr val="1E293B"/>
                </a:solidFill>
                <a:latin typeface="Calibri"/>
              </a:defRPr>
            </a:pPr>
            <a:r>
              <a:t>AI-Powered Behavioral Anomaly Detection for Cybersecurity</a:t>
            </a:r>
          </a:p>
          <a:p>
            <a:pPr>
              <a:defRPr sz="10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Theme — </a:t>
            </a:r>
          </a:p>
          <a:p>
            <a:pPr>
              <a:defRPr sz="1400">
                <a:solidFill>
                  <a:srgbClr val="1E293B"/>
                </a:solidFill>
                <a:latin typeface="Calibri"/>
              </a:defRPr>
            </a:pPr>
            <a:r>
              <a:t>Cybersecurity / AI &amp; Machine Learning</a:t>
            </a:r>
          </a:p>
          <a:p>
            <a:pPr>
              <a:defRPr sz="10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PS Category — </a:t>
            </a:r>
          </a:p>
          <a:p>
            <a:pPr>
              <a:defRPr sz="1400">
                <a:solidFill>
                  <a:srgbClr val="1E293B"/>
                </a:solidFill>
                <a:latin typeface="Calibri"/>
              </a:defRPr>
            </a:pPr>
            <a:r>
              <a:t>Software</a:t>
            </a:r>
          </a:p>
          <a:p>
            <a:pPr>
              <a:defRPr sz="10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Student Name — </a:t>
            </a:r>
          </a:p>
          <a:p>
            <a:pPr>
              <a:defRPr sz="1400">
                <a:solidFill>
                  <a:srgbClr val="1E293B"/>
                </a:solidFill>
                <a:latin typeface="Calibri"/>
              </a:defRPr>
            </a:pPr>
            <a:r>
              <a:t>Kota Bhanu Prasanth Reddy</a:t>
            </a:r>
          </a:p>
          <a:p>
            <a:pPr>
              <a:defRPr sz="10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Student ID — </a:t>
            </a:r>
          </a:p>
          <a:p>
            <a:pPr>
              <a:defRPr sz="1400">
                <a:solidFill>
                  <a:srgbClr val="1E293B"/>
                </a:solidFill>
                <a:latin typeface="Calibri"/>
              </a:defRPr>
            </a:pPr>
            <a:r>
              <a:t>KBPR-2026 (Registered on portal)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t>CyberShield AI: 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Calibri"/>
              </a:defRPr>
            </a:pPr>
            <a:r>
              <a:t>Core Solution: Multi-Tiered AI Behavioral Profiling &amp; Anomaly Engine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Sequence-Aware ML Framework: Integrates Unsupervised Profiling (Isolation Forest + OCSVM) and Supervised Detection (XGBoost + LSTM Autoencoder).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Continuous Risk Scoring (0–100): Evaluates every access log event in real-time, providing fine-grained risk assessment.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7-Class Attack Classification: Categorizes anomalies into Brute Force, Impossible Travel, Credential Stuffing, Lateral Movement, Device Spoofing, Low &amp; Slow Exfiltration, and Insider Drift.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Explainable AI (XAI) Engine: Employs SHAP TreeExplainer to produce per-alert feature attribution and natural-language analyst summaries.</a:t>
            </a:r>
          </a:p>
          <a:p>
            <a:pPr>
              <a:defRPr sz="8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Addressing Key Challenges &amp; Innovation: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Addressing Class Imbalance: Applied SMOTE oversampling &amp; weighted loss (scale_pos_weight=50), achieving 97.70% Recall and 98.78% AUC-ROC.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Addressing Cold-Start Problem: Implemented population-based statistical baselines for new entities with &lt;20 historical events.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Addressing Alert Fatigue: Achieved 100% Precision@Top1%, guaranteeing zero false positives in the top 1% alert budget.</a:t>
            </a:r>
          </a:p>
          <a:p>
            <a:pPr>
              <a:defRPr sz="1200" b="1">
                <a:solidFill>
                  <a:srgbClr val="06B6D4"/>
                </a:solidFill>
                <a:latin typeface="Calibri"/>
              </a:defRPr>
            </a:pPr>
            <a:r>
              <a:t>• Deployed Web App: https://cybershield-ai-1-5gyk.onrender.com/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t>TECHNICAL APPROACH &amp; PIPELINE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sz="1400" b="1">
                <a:solidFill>
                  <a:srgbClr val="06B6D4"/>
                </a:solidFill>
                <a:latin typeface="Calibri"/>
              </a:defRPr>
            </a:pPr>
            <a:r>
              <a:t>Technologies Used: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Languages &amp; ML Core: Python 3.11/3.14, scikit-learn, XGBoost, TensorFlow/Keras, SHAP, imbalanced-learn (SMOTE).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Backend &amp; Serving: Flask REST API (12 endpoints), Gunicorn, Joblib, NumPy, pandas.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Frontend &amp; Visualization: Multi-Page SPA (HTML5, Tailwind CSS, Chart.js, Glassmorphism, Light/Dark Theme, Spotlight Search Ctrl+K).</a:t>
            </a:r>
          </a:p>
          <a:p>
            <a:pPr>
              <a:defRPr sz="8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Implementation Methodology: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1. Synthetic Data &amp; Profiling: Generated 59,566 events across 200 entities with 7 distinct attack patterns.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2. Feature Engineering (43 Features): Extracted temporal, geo-velocity (km/h), rolling login counts (1h/6h/24h), device fingerprint shifts, and behavioral z-scores.</a:t>
            </a:r>
          </a:p>
          <a:p>
            <a:pPr>
              <a:defRPr sz="1200" b="1">
                <a:solidFill>
                  <a:srgbClr val="1E293B"/>
                </a:solidFill>
                <a:latin typeface="Calibri"/>
              </a:defRPr>
            </a:pPr>
            <a:r>
              <a:t>3. Multi-Tiered Ensemble Detection Pipeline: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   - Tier 1: Isolation Forest + One-Class SVM unsupervised baseline profiler.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   - Tier 2: XGBoost + 2-layer LSTM Autoencoder weighted risk scoring (0.6*XGB + 0.4*LSTM).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   - Tier 3: SMOTE-balanced multi-class XGBoost classifier for attack attribution.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   - Tier 4: SHAP TreeExplainer feature attribution producing human-readable SOC summaries.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t>FEASIBILITY, VIABILITY &amp; METRICS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1">
                <a:solidFill>
                  <a:srgbClr val="06B6D4"/>
                </a:solidFill>
                <a:latin typeface="Calibri"/>
              </a:defRPr>
            </a:pPr>
            <a:r>
              <a:t>Feasibility Analysis &amp; Demonstrated Performance: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Empirical Validation (59,566 Events Tested): Accuracy = 93.59% | Recall = 97.70% | F1 Score = 84.98% | AUC-ROC = 98.78%.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Operational Efficiency: 100% Precision@Top1% ensures the top 1% alert budget contains zero false positives.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Low Latency Inference: Sub-15ms per-event inference suitable for real-time SIEM/SOAR streaming ingestion.</a:t>
            </a:r>
          </a:p>
          <a:p>
            <a:pPr>
              <a:defRPr sz="1200" b="1">
                <a:solidFill>
                  <a:srgbClr val="06B6D4"/>
                </a:solidFill>
                <a:latin typeface="Calibri"/>
              </a:defRPr>
            </a:pPr>
            <a:r>
              <a:t>• Live Production Deployment: Deployed on Render PaaS at https://cybershield-ai-1-5gyk.onrender.com/</a:t>
            </a:r>
          </a:p>
          <a:p>
            <a:pPr>
              <a:defRPr sz="8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Potential Challenges &amp; Mitigation: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Concept Drift &amp; Cold-Start: Handled via population-based fallback baselines and continuous rolling feature updates.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• Analyst Fatigue: Solved via SHAP natural language narratives and risk prioritization.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t>SOLUTION ARTIFACTS &amp; DASHBOARD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1">
                <a:solidFill>
                  <a:srgbClr val="06B6D4"/>
                </a:solidFill>
                <a:latin typeface="Calibri"/>
              </a:defRPr>
            </a:pPr>
            <a:r>
              <a:t>Key Project Artifacts &amp; System Deliverables: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• Multi-Page Analyst SOC Dashboard: Deployed live at https://cybershield-ai-1-5gyk.onrender.com/ featuring Overview, Analytics, Alerts, and Model Performance views.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• Advanced UI Features: Spotlight Search (Ctrl+K), Light/Dark Theme toggle, Live Clock, Fullscreen mode, CSV Export, and Toast notifications.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• Modular Python ML Core: 9 production-grade modules (data_generator, feature_engineering, baseline_model, detection_model, classifier, explainer, evaluate, train_pipeline, app).</a:t>
            </a:r>
          </a:p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• Public GitHub Repository: https://github.com/Prasanth4689/CyberShield-AI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91840"/>
            <a:ext cx="3108960" cy="2331720"/>
          </a:xfrm>
          <a:prstGeom prst="rect">
            <a:avLst/>
          </a:prstGeom>
        </p:spPr>
      </p:pic>
      <p:pic>
        <p:nvPicPr>
          <p:cNvPr id="17412" name="Picture 17411" descr="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3291840"/>
            <a:ext cx="3108960" cy="2590800"/>
          </a:xfrm>
          <a:prstGeom prst="rect">
            <a:avLst/>
          </a:prstGeom>
        </p:spPr>
      </p:pic>
      <p:pic>
        <p:nvPicPr>
          <p:cNvPr id="17413" name="Picture 17412" descr="shap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3291840"/>
            <a:ext cx="3108960" cy="371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t>RESEARCH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1">
                <a:solidFill>
                  <a:srgbClr val="06B6D4"/>
                </a:solidFill>
                <a:latin typeface="Calibri"/>
              </a:defRPr>
            </a:pPr>
            <a:r>
              <a:t>Academic Research &amp; Industry Standards: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1. Lundberg, S. M., &amp; Lee, S.-I. (2017). 'A Unified Approach to Interpreting Model Predictions.' NIPS 30.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2. Chen, T., &amp; Guestrin, C. (2016). 'XGBoost: A Scalable Tree Boosting System.' ACM SIGKDD.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3. Malhotra, P., et al. (2016). 'LSTM-based Encoder-Decoder for Multi-sensor Anomaly Detection.' ICML Workshop.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4. Liu, F. T., Ting, K. M., &amp; Zhou, Z. H. (2008). 'Isolation Forest.' IEEE ICDM.</a:t>
            </a:r>
          </a:p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5. MITRE ATT&amp;CK Framework: Mapping access patterns to Credential Access, Lateral Movement, and Exfiltration.</a:t>
            </a:r>
          </a:p>
          <a:p>
            <a:pPr>
              <a:defRPr sz="600">
                <a:latin typeface="Calibri"/>
              </a:defRPr>
            </a:pPr>
          </a:p>
          <a:p>
            <a:pPr>
              <a:defRPr sz="1400" b="1">
                <a:solidFill>
                  <a:srgbClr val="1E293B"/>
                </a:solidFill>
                <a:latin typeface="Calibri"/>
              </a:defRPr>
            </a:pPr>
            <a:r>
              <a:t>Live Deployed Website &amp; Repositories:</a:t>
            </a:r>
          </a:p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• Deployed Website URL: https://cybershield-ai-1-5gyk.onrender.com/</a:t>
            </a:r>
          </a:p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• GitHub Source Code: https://github.com/Prasanth4689/CyberShield-AI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