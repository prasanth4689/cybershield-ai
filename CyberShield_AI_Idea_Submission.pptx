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3"/>
    <p:sldId id="281" r:id="rId4"/>
    <p:sldId id="290" r:id="rId5"/>
    <p:sldId id="293" r:id="rId6"/>
    <p:sldId id="299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</a:t>
            </a:r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600" b="1">
                <a:solidFill>
                  <a:srgbClr val="06B6D4"/>
                </a:solidFill>
              </a:defRPr>
            </a:pPr>
            <a:r>
              <a:t>CyberShield AI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AI-Powered Behavioral Anomaly Detection for Cybersecurity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4" y="1203454"/>
            <a:ext cx="59245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Calibri"/>
              </a:defRPr>
            </a:pPr>
            <a:r>
              <a:t>Problem Statement ID — </a:t>
            </a:r>
            <a:endParaRPr lang="en-US" dirty="0"/>
          </a:p>
          <a:p>
            <a:pPr>
              <a:defRPr sz="1400">
                <a:solidFill>
                  <a:srgbClr val="06B6D4"/>
                </a:solidFill>
                <a:latin typeface="Calibri"/>
              </a:defRPr>
            </a:pPr>
            <a:r>
              <a:t>Honeywell-2026-Q4</a:t>
            </a:r>
          </a:p>
          <a:p>
            <a:pPr>
              <a:defRPr sz="1000">
                <a:latin typeface="Calibri"/>
              </a:defRPr>
            </a:pPr>
          </a:p>
          <a:p>
            <a:pPr>
              <a:defRPr sz="1400" b="1">
                <a:solidFill>
                  <a:srgbClr val="1E293B"/>
                </a:solidFill>
                <a:latin typeface="Calibri"/>
              </a:defRPr>
            </a:pPr>
            <a:r>
              <a:t>Problem Statement Title — 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AI-Powered Behavioral Anomaly Detection for Cybersecurity</a:t>
            </a:r>
          </a:p>
          <a:p>
            <a:pPr>
              <a:defRPr sz="1000">
                <a:latin typeface="Calibri"/>
              </a:defRPr>
            </a:pPr>
          </a:p>
          <a:p>
            <a:pPr>
              <a:defRPr sz="1400" b="1">
                <a:solidFill>
                  <a:srgbClr val="1E293B"/>
                </a:solidFill>
                <a:latin typeface="Calibri"/>
              </a:defRPr>
            </a:pPr>
            <a:r>
              <a:t>Theme — 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Cybersecurity / AI &amp; Machine Learning</a:t>
            </a:r>
          </a:p>
          <a:p>
            <a:pPr>
              <a:defRPr sz="1000">
                <a:latin typeface="Calibri"/>
              </a:defRPr>
            </a:pPr>
          </a:p>
          <a:p>
            <a:pPr>
              <a:defRPr sz="1400" b="1">
                <a:solidFill>
                  <a:srgbClr val="1E293B"/>
                </a:solidFill>
                <a:latin typeface="Calibri"/>
              </a:defRPr>
            </a:pPr>
            <a:r>
              <a:t>PS Category — 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Software</a:t>
            </a:r>
          </a:p>
          <a:p>
            <a:pPr>
              <a:defRPr sz="1000">
                <a:latin typeface="Calibri"/>
              </a:defRPr>
            </a:pPr>
          </a:p>
          <a:p>
            <a:pPr>
              <a:defRPr sz="1400" b="1">
                <a:solidFill>
                  <a:srgbClr val="1E293B"/>
                </a:solidFill>
                <a:latin typeface="Calibri"/>
              </a:defRPr>
            </a:pPr>
            <a:r>
              <a:t>Student Name — 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Kota Bhanu Prasanth Reddy</a:t>
            </a:r>
          </a:p>
          <a:p>
            <a:pPr>
              <a:defRPr sz="1000">
                <a:latin typeface="Calibri"/>
              </a:defRPr>
            </a:pPr>
          </a:p>
          <a:p>
            <a:pPr>
              <a:defRPr sz="1400" b="1">
                <a:solidFill>
                  <a:srgbClr val="1E293B"/>
                </a:solidFill>
                <a:latin typeface="Calibri"/>
              </a:defRPr>
            </a:pPr>
            <a:r>
              <a:t>Student ID — 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Registered Portal Candidate (KBPR-2026)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t>CyberShield AI: 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Calibri"/>
              </a:defRPr>
            </a:pPr>
            <a:r>
              <a:t>Core Solution: Multi-Tiered AI Behavioral Profiling &amp; Anomaly Engine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Sequence-Aware ML Framework: Integrates Unsupervised Profiling (Isolation Forest + OCSVM) and Supervised Detection (XGBoost + LSTM Autoencoder).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Continuous Risk Scoring (0–100): Evaluates every access log event in real-time, providing fine-grained risk assessment.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7-Class Attack Classification: Categorizes anomalies into Brute Force, Impossible Travel, Credential Stuffing, Lateral Movement, Device Spoofing, Low &amp; Slow Exfiltration, and Insider Drift.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Explainable AI (XAI) Layer: Employs SHAP TreeExplainer to produce per-alert feature attribution and natural-language analyst summaries.</a:t>
            </a:r>
          </a:p>
          <a:p>
            <a:pPr>
              <a:defRPr sz="800">
                <a:latin typeface="Calibri"/>
              </a:defRPr>
            </a:pPr>
          </a:p>
          <a:p>
            <a:pPr>
              <a:defRPr sz="1400" b="1">
                <a:solidFill>
                  <a:srgbClr val="1E293B"/>
                </a:solidFill>
                <a:latin typeface="Calibri"/>
              </a:defRPr>
            </a:pPr>
            <a:r>
              <a:t>How It Addresses Key Challenges: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Class Imbalance: Solved via SMOTE oversampling &amp; XGBoost scale_pos_weight=50 (achieves 97.7% Recall).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Cold-Start Problem: Solved via population-based statistical baselines for new entities (&lt;20 events).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Analyst Alert Fatigue: Solved via 100% Precision@Top1% alert budget prioritization.</a:t>
            </a:r>
          </a:p>
          <a:p>
            <a:pPr>
              <a:defRPr sz="800">
                <a:latin typeface="Calibri"/>
              </a:defRPr>
            </a:pPr>
          </a:p>
          <a:p>
            <a:pPr>
              <a:defRPr sz="1400" b="1">
                <a:solidFill>
                  <a:srgbClr val="1E293B"/>
                </a:solidFill>
                <a:latin typeface="Calibri"/>
              </a:defRPr>
            </a:pPr>
            <a:r>
              <a:t>Innovation &amp; Uniqueness: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Hybrid Ensemble Architecture combining statistical norms, temporal sequence autoencoding, and gradient boosted tree classification with natural language SOC narrative generation.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TECHNICAL APPROACH &amp; PIPELINE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1400" b="1">
                <a:solidFill>
                  <a:srgbClr val="06B6D4"/>
                </a:solidFill>
                <a:latin typeface="Calibri"/>
              </a:defRPr>
            </a:pPr>
            <a:r>
              <a:t>Technologies Used: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Languages &amp; ML Core: Python 3.14, scikit-learn, XGBoost, TensorFlow/Keras, SHAP, imbalanced-learn (SMOTE).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Backend &amp; Serving: Flask REST API, Flask-CORS, joblib, NumPy, pandas.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Frontend &amp; Visualization: HTML5, Tailwind CSS, Chart.js, Font Awesome (Glassmorphic SOC Dashboard).</a:t>
            </a:r>
          </a:p>
          <a:p>
            <a:pPr>
              <a:defRPr sz="800">
                <a:latin typeface="Calibri"/>
              </a:defRPr>
            </a:pPr>
          </a:p>
          <a:p>
            <a:pPr>
              <a:defRPr sz="1400" b="1">
                <a:solidFill>
                  <a:srgbClr val="1E293B"/>
                </a:solidFill>
                <a:latin typeface="Calibri"/>
              </a:defRPr>
            </a:pPr>
            <a:r>
              <a:t>Implementation Methodology: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1. Synthetic Data &amp; Profiling: Generated 59,566 events across 200 entities with 7 distinct attack patterns.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2. Feature Engineering (43 Features): Extracted temporal, geo-velocity (km/h), rolling login counts (1h/6h/24h), device fingerprint shifts, and behavioral z-scores.</a:t>
            </a:r>
          </a:p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3. Multi-Tiered Ensemble Detection Pipeline: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   - Tier 1: Isolation Forest + One-Class SVM unsupervised baseline profiler.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   - Tier 2: XGBoost + 2-layer LSTM Autoencoder weighted risk scoring (0.6*XGB + 0.4*LSTM).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   - Tier 3: SMOTE-balanced multi-class XGBoost classifier for attack attribution.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   - Tier 4: SHAP TreeExplainer feature attribution producing human-readable SOC summaries.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FEASIBILITY, VIABILITY &amp; METRICS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1">
                <a:solidFill>
                  <a:srgbClr val="06B6D4"/>
                </a:solidFill>
                <a:latin typeface="Calibri"/>
              </a:defRPr>
            </a:pPr>
            <a:r>
              <a:t>Feasibility Analysis &amp; Demonstrated Performance: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Empirical Validation (59,566 Events Tested): Accuracy = 93.59% | Recall = 97.70% | F1 Score = 84.98% | AUC-ROC = 98.78%.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Operational Efficiency: 100% Precision@Top1% ensures the top 1% alert budget contains zero false positives.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Low Latency Inference: Sub-15ms per-event inference suitable for real-time SIEM/SOAR streaming ingestion.</a:t>
            </a:r>
          </a:p>
          <a:p>
            <a:pPr>
              <a:defRPr sz="800">
                <a:latin typeface="Calibri"/>
              </a:defRPr>
            </a:pPr>
          </a:p>
          <a:p>
            <a:pPr>
              <a:defRPr sz="1400" b="1">
                <a:solidFill>
                  <a:srgbClr val="1E293B"/>
                </a:solidFill>
                <a:latin typeface="Calibri"/>
              </a:defRPr>
            </a:pPr>
            <a:r>
              <a:t>Potential Challenges &amp; Risks: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1. Streaming Scale: Ingesting high-throughput enterprise event streams.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2. Concept Drift: Evolving legitimate entity behavior patterns over time.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3. Insider Drift Ambiguity: Subtle privilege expansion hard to separate from normal role changes.</a:t>
            </a:r>
          </a:p>
          <a:p>
            <a:pPr>
              <a:defRPr sz="800">
                <a:latin typeface="Calibri"/>
              </a:defRPr>
            </a:pPr>
          </a:p>
          <a:p>
            <a:pPr>
              <a:defRPr sz="1400" b="1">
                <a:solidFill>
                  <a:srgbClr val="1E293B"/>
                </a:solidFill>
                <a:latin typeface="Calibri"/>
              </a:defRPr>
            </a:pPr>
            <a:r>
              <a:t>Mitigation Strategies: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Rolling-window adaptive feature engineering continuously recalibrates entity baselines.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Population-based fallback profiles handle cold-start entities without prior history.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Microservices REST API architecture readily integrates with Kafka/Spark streaming pipelines.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SOLUTION ARTIFACTS &amp; DASHBOARD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33653"/>
            <a:ext cx="93853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1">
                <a:solidFill>
                  <a:srgbClr val="06B6D4"/>
                </a:solidFill>
                <a:latin typeface="Calibri"/>
              </a:defRPr>
            </a:pPr>
            <a:r>
              <a:t>Key Project Artifacts &amp; System Deliverables: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• Analyst SOC Dashboard: Full-featured dark-mode glassmorphic Web UI with 6 KPI cards, Attack Distribution Donut, 24h Risk Timeline, Entity Risk Heatmap, and SHAP Explanation Panel.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• Modular Python ML Core: 9 production-grade modules (data_generator, feature_engineering, baseline_model, detection_model, classifier, explainer, evaluate, train_pipeline, app).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• Evaluated Model Checkpoints: Saved baseline_model.pkl (1.5MB), xgb_detector.pkl (710KB), attack_classifier.pkl (1.2MB).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11" name="Picture 17410" descr="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91840"/>
            <a:ext cx="3108960" cy="2331720"/>
          </a:xfrm>
          <a:prstGeom prst="rect">
            <a:avLst/>
          </a:prstGeom>
        </p:spPr>
      </p:pic>
      <p:pic>
        <p:nvPicPr>
          <p:cNvPr id="17412" name="Picture 17411" descr="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3291840"/>
            <a:ext cx="3108960" cy="2590800"/>
          </a:xfrm>
          <a:prstGeom prst="rect">
            <a:avLst/>
          </a:prstGeom>
        </p:spPr>
      </p:pic>
      <p:pic>
        <p:nvPicPr>
          <p:cNvPr id="17413" name="Picture 17412" descr="shap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3291840"/>
            <a:ext cx="3108960" cy="371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RESEARCH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1">
                <a:solidFill>
                  <a:srgbClr val="06B6D4"/>
                </a:solidFill>
                <a:latin typeface="Calibri"/>
              </a:defRPr>
            </a:pPr>
            <a:r>
              <a:t>Academic Research &amp; Industry Standards: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1. Lundberg, S. M., &amp; Lee, S.-I. (2017). 'A Unified Approach to Interpreting Model Predictions.' Advances in Neural Information Processing Systems (NIPS), 30.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2. Chen, T., &amp; Guestrin, C. (2016). 'XGBoost: A Scalable Tree Boosting System.' ACM SIGKDD International Conference on Knowledge Discovery and Data Mining.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3. Malhotra, P., et al. (2016). 'LSTM-based Encoder-Decoder for Multi-sensor Anomaly Detection.' ICML Workshop on Anomaly Detection.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4. Liu, F. T., Ting, K. M., &amp; Zhou, Z. H. (2008). 'Isolation Forest.' IEEE International Conference on Data Mining (ICDM).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5. MITRE ATT&amp;CK Framework: Mapping access patterns to Credential Access, Lateral Movement, and Exfiltration tactics.</a:t>
            </a:r>
          </a:p>
          <a:p>
            <a:pPr>
              <a:defRPr sz="600">
                <a:latin typeface="Calibri"/>
              </a:defRPr>
            </a:pPr>
          </a:p>
          <a:p>
            <a:pPr>
              <a:defRPr sz="1400" b="1">
                <a:solidFill>
                  <a:srgbClr val="1E293B"/>
                </a:solidFill>
                <a:latin typeface="Calibri"/>
              </a:defRPr>
            </a:pPr>
            <a:r>
              <a:t>Project Repositories &amp; API Endpoints: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• Analyst Dashboard API: http://localhost:5000 (Flask backend with 12 REST API endpoints)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• Evaluation Reports: reports/evaluation_metrics.json &amp; datasets/processed/alerts.json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